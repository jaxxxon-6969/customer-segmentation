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4C8A8-8F59-4F0B-A9CD-AC2D062A0944}" v="8" dt="2026-10-03T05:39:48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3miracles@gmail.com" userId="19c41a5342be1558" providerId="LiveId" clId="{D1325FCD-1ECF-4E96-B7E3-570745CD382A}"/>
    <pc:docChg chg="undo redo custSel addSld delSld modSld">
      <pc:chgData name="j3miracles@gmail.com" userId="19c41a5342be1558" providerId="LiveId" clId="{D1325FCD-1ECF-4E96-B7E3-570745CD382A}" dt="2026-10-03T05:40:22.142" v="151" actId="20577"/>
      <pc:docMkLst>
        <pc:docMk/>
      </pc:docMkLst>
      <pc:sldChg chg="addSp delSp modSp mod modTransition">
        <pc:chgData name="j3miracles@gmail.com" userId="19c41a5342be1558" providerId="LiveId" clId="{D1325FCD-1ECF-4E96-B7E3-570745CD382A}" dt="2026-10-03T05:40:01.415" v="141" actId="27636"/>
        <pc:sldMkLst>
          <pc:docMk/>
          <pc:sldMk cId="0" sldId="256"/>
        </pc:sldMkLst>
        <pc:spChg chg="mod">
          <ac:chgData name="j3miracles@gmail.com" userId="19c41a5342be1558" providerId="LiveId" clId="{D1325FCD-1ECF-4E96-B7E3-570745CD382A}" dt="2026-10-03T05:38:39.548" v="6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3miracles@gmail.com" userId="19c41a5342be1558" providerId="LiveId" clId="{D1325FCD-1ECF-4E96-B7E3-570745CD382A}" dt="2026-10-03T05:39:48.681" v="11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j3miracles@gmail.com" userId="19c41a5342be1558" providerId="LiveId" clId="{D1325FCD-1ECF-4E96-B7E3-570745CD382A}" dt="2026-10-03T05:40:01.415" v="141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j3miracles@gmail.com" userId="19c41a5342be1558" providerId="LiveId" clId="{D1325FCD-1ECF-4E96-B7E3-570745CD382A}" dt="2026-10-03T05:39:48.616" v="107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j3miracles@gmail.com" userId="19c41a5342be1558" providerId="LiveId" clId="{D1325FCD-1ECF-4E96-B7E3-570745CD382A}" dt="2026-10-03T05:39:48.586" v="102" actId="1076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j3miracles@gmail.com" userId="19c41a5342be1558" providerId="LiveId" clId="{D1325FCD-1ECF-4E96-B7E3-570745CD382A}" dt="2026-10-03T05:39:48.563" v="97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j3miracles@gmail.com" userId="19c41a5342be1558" providerId="LiveId" clId="{D1325FCD-1ECF-4E96-B7E3-570745CD382A}" dt="2026-10-03T05:39:48.508" v="90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j3miracles@gmail.com" userId="19c41a5342be1558" providerId="LiveId" clId="{D1325FCD-1ECF-4E96-B7E3-570745CD382A}" dt="2026-10-03T05:39:48.405" v="89" actId="107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j3miracles@gmail.com" userId="19c41a5342be1558" providerId="LiveId" clId="{D1325FCD-1ECF-4E96-B7E3-570745CD382A}" dt="2026-10-03T05:40:01.415" v="141" actId="27636"/>
        <pc:sldMkLst>
          <pc:docMk/>
          <pc:sldMk cId="0" sldId="257"/>
        </pc:sldMkLst>
        <pc:spChg chg="mod">
          <ac:chgData name="j3miracles@gmail.com" userId="19c41a5342be1558" providerId="LiveId" clId="{D1325FCD-1ECF-4E96-B7E3-570745CD382A}" dt="2026-10-03T05:40:01.415" v="141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j3miracles@gmail.com" userId="19c41a5342be1558" providerId="LiveId" clId="{D1325FCD-1ECF-4E96-B7E3-570745CD382A}" dt="2026-10-03T05:40:22.142" v="151" actId="20577"/>
        <pc:sldMkLst>
          <pc:docMk/>
          <pc:sldMk cId="0" sldId="258"/>
        </pc:sldMkLst>
        <pc:spChg chg="mod">
          <ac:chgData name="j3miracles@gmail.com" userId="19c41a5342be1558" providerId="LiveId" clId="{D1325FCD-1ECF-4E96-B7E3-570745CD382A}" dt="2026-10-03T05:39:49.014" v="137" actId="27636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j3miracles@gmail.com" userId="19c41a5342be1558" providerId="LiveId" clId="{D1325FCD-1ECF-4E96-B7E3-570745CD382A}" dt="2026-10-03T05:40:22.142" v="151" actId="20577"/>
          <ac:graphicFrameMkLst>
            <pc:docMk/>
            <pc:sldMk cId="0" sldId="258"/>
            <ac:graphicFrameMk id="8" creationId="{00000000-0000-0000-0000-000000000000}"/>
          </ac:graphicFrameMkLst>
        </pc:graphicFrameChg>
      </pc:sldChg>
      <pc:sldChg chg="modSp mod">
        <pc:chgData name="j3miracles@gmail.com" userId="19c41a5342be1558" providerId="LiveId" clId="{D1325FCD-1ECF-4E96-B7E3-570745CD382A}" dt="2026-10-03T05:39:49.014" v="137" actId="27636"/>
        <pc:sldMkLst>
          <pc:docMk/>
          <pc:sldMk cId="0" sldId="261"/>
        </pc:sldMkLst>
        <pc:spChg chg="mod">
          <ac:chgData name="j3miracles@gmail.com" userId="19c41a5342be1558" providerId="LiveId" clId="{D1325FCD-1ECF-4E96-B7E3-570745CD382A}" dt="2026-10-03T05:39:49.014" v="137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j3miracles@gmail.com" userId="19c41a5342be1558" providerId="LiveId" clId="{D1325FCD-1ECF-4E96-B7E3-570745CD382A}" dt="2026-10-03T05:39:49.014" v="137" actId="27636"/>
        <pc:sldMkLst>
          <pc:docMk/>
          <pc:sldMk cId="0" sldId="264"/>
        </pc:sldMkLst>
        <pc:spChg chg="mod">
          <ac:chgData name="j3miracles@gmail.com" userId="19c41a5342be1558" providerId="LiveId" clId="{D1325FCD-1ECF-4E96-B7E3-570745CD382A}" dt="2026-10-03T05:39:49.014" v="137" actId="27636"/>
          <ac:spMkLst>
            <pc:docMk/>
            <pc:sldMk cId="0" sldId="264"/>
            <ac:spMk id="2" creationId="{00000000-0000-0000-0000-000000000000}"/>
          </ac:spMkLst>
        </pc:spChg>
      </pc:sldChg>
      <pc:sldChg chg="modSp add del mod modTransition">
        <pc:chgData name="j3miracles@gmail.com" userId="19c41a5342be1558" providerId="LiveId" clId="{D1325FCD-1ECF-4E96-B7E3-570745CD382A}" dt="2026-10-03T05:39:48.794" v="116" actId="2890"/>
        <pc:sldMkLst>
          <pc:docMk/>
          <pc:sldMk cId="3445340505" sldId="266"/>
        </pc:sldMkLst>
        <pc:spChg chg="mod">
          <ac:chgData name="j3miracles@gmail.com" userId="19c41a5342be1558" providerId="LiveId" clId="{D1325FCD-1ECF-4E96-B7E3-570745CD382A}" dt="2026-10-03T05:39:48.794" v="116" actId="2890"/>
          <ac:spMkLst>
            <pc:docMk/>
            <pc:sldMk cId="3445340505" sldId="266"/>
            <ac:spMk id="4" creationId="{435206C1-7C82-8CBE-AA9B-FB30325481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098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02306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355600"/>
            <a:ext cx="4440325" cy="59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800"/>
              </a:spcAft>
              <a:buNone/>
            </a:pPr>
            <a:r>
              <a:rPr lang="en-US" sz="1050" kern="100" spc="63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PROJECT · CUSTOMER SEGMENTATION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0990" y="1007666"/>
            <a:ext cx="4440325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67000"/>
              </a:lnSpc>
              <a:buNone/>
            </a:pPr>
            <a:r>
              <a:rPr lang="en-US" sz="50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</a:t>
            </a:r>
            <a:endParaRPr lang="en-US" sz="5000" dirty="0"/>
          </a:p>
          <a:p>
            <a:pPr marL="0" indent="0" algn="l">
              <a:lnSpc>
                <a:spcPct val="67000"/>
              </a:lnSpc>
              <a:buNone/>
            </a:pPr>
            <a:r>
              <a:rPr lang="en-US" sz="50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Using </a:t>
            </a:r>
            <a:r>
              <a:rPr lang="en-US" sz="45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</a:t>
            </a:r>
            <a:r>
              <a:rPr lang="en-US" sz="41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Means </a:t>
            </a:r>
            <a:r>
              <a:rPr lang="en-US" sz="46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50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                </a:t>
            </a:r>
            <a:endParaRPr lang="en-US" sz="5000" dirty="0"/>
          </a:p>
          <a:p>
            <a:pPr marL="0" indent="0" algn="l">
              <a:lnSpc>
                <a:spcPct val="67000"/>
              </a:lnSpc>
              <a:buNone/>
            </a:pPr>
            <a:r>
              <a:rPr lang="en-US" sz="50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Clustering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80990" y="3242866"/>
            <a:ext cx="44403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Unsupervised Machine Learning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0990" y="3984526"/>
            <a:ext cx="48213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Jackson Abraham • B.Sc AI &amp; ML 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4986" y="5140821"/>
            <a:ext cx="3022524" cy="1323975"/>
          </a:xfrm>
          <a:prstGeom prst="roundRect">
            <a:avLst>
              <a:gd name="adj" fmla="val 690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32781" y="5293221"/>
            <a:ext cx="327651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CASE FILE / 01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781" y="5641479"/>
            <a:ext cx="879949" cy="38100"/>
          </a:xfrm>
          <a:prstGeom prst="roundRect">
            <a:avLst>
              <a:gd name="adj" fmla="val 49999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32781" y="5847854"/>
            <a:ext cx="2666933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customer behavior into usable groups.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858000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355600"/>
            <a:ext cx="397252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30192" y="764183"/>
            <a:ext cx="364232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average customer hides the real opportunity.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0192" y="5538589"/>
            <a:ext cx="364232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Different behaviors.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One-size-fits-all marketing.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0192" y="6142434"/>
            <a:ext cx="364232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every customer gets the same message, relevance and marketing effectiveness fall.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61399" y="2160687"/>
            <a:ext cx="733029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3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DATA TO ACTION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61399" y="2397820"/>
            <a:ext cx="7127101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Make the customer groups visible.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861399" y="2981325"/>
            <a:ext cx="733029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objective: find natural similarities, then turn them into targeted strategy.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61399" y="3364508"/>
            <a:ext cx="6847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61399" y="3599458"/>
            <a:ext cx="155313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61399" y="3977283"/>
            <a:ext cx="1553131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purchase behavior.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71719" y="3364508"/>
            <a:ext cx="7204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71719" y="3599458"/>
            <a:ext cx="132463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71719" y="3977283"/>
            <a:ext cx="132463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similar customers.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3544" y="3364508"/>
            <a:ext cx="7227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53544" y="3599458"/>
            <a:ext cx="132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53544" y="3977283"/>
            <a:ext cx="13245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each group to a message.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35269" y="3364508"/>
            <a:ext cx="72804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35269" y="3599458"/>
            <a:ext cx="155323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435269" y="3977283"/>
            <a:ext cx="1553231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K-Means to show the method.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36775" y="3364508"/>
            <a:ext cx="12700" cy="1332805"/>
          </a:xfrm>
          <a:prstGeom prst="rect">
            <a:avLst/>
          </a:prstGeom>
          <a:solidFill>
            <a:srgbClr val="F9F4F0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8600" y="3364508"/>
            <a:ext cx="12700" cy="1332805"/>
          </a:xfrm>
          <a:prstGeom prst="rect">
            <a:avLst/>
          </a:prstGeom>
          <a:solidFill>
            <a:srgbClr val="F9F4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00325" y="3364508"/>
            <a:ext cx="12700" cy="1332805"/>
          </a:xfrm>
          <a:prstGeom prst="rect">
            <a:avLst/>
          </a:prstGeom>
          <a:solidFill>
            <a:srgbClr val="F9F4F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5379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THE DATA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428750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Mall Customers dataset turns behavior into usable signals.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4286945"/>
            <a:ext cx="472428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Applications: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retail &amp; e-commerce, banking, marketing, telecom, streaming.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4944765"/>
            <a:ext cx="4724282" cy="1207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fields: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 ID, Gender, Age, Annual Income, Spending Score.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Records: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[Insert number of records]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Clustering inputs: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Annual Income + Spending Score.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3581400"/>
            <a:ext cx="5943451" cy="3276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3895824"/>
            <a:ext cx="571485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MALL CUSTOMERS SAMPLE ROWS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518112"/>
              </p:ext>
            </p:extLst>
          </p:nvPr>
        </p:nvGraphicFramePr>
        <p:xfrm>
          <a:off x="6476838" y="4199632"/>
          <a:ext cx="5486264" cy="2027386"/>
        </p:xfrm>
        <a:graphic>
          <a:graphicData uri="http://schemas.openxmlformats.org/drawingml/2006/table">
            <a:tbl>
              <a:tblPr/>
              <a:tblGrid>
                <a:gridCol w="1118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4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ID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Gender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Annual Income (k$)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Spending Score (1-100)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[101]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[Male]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[18]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[30]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[10]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[102]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[Female]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[65]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[60]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[20]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[103]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[Male]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[26]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[20]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[20]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76838" y="6363593"/>
            <a:ext cx="571485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Compact sample only; these rows do not represent the full dataset.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FEATURE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024533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 features make the segmentation easy to explain.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828800"/>
            <a:ext cx="3383275" cy="1371600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5" name="Text 3"/>
          <p:cNvSpPr/>
          <p:nvPr/>
        </p:nvSpPr>
        <p:spPr>
          <a:xfrm>
            <a:off x="228594" y="2087066"/>
            <a:ext cx="315468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594" y="2324199"/>
            <a:ext cx="292608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594" y="2702024"/>
            <a:ext cx="315468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Customer's 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364" y="1828800"/>
            <a:ext cx="3947121" cy="1371600"/>
          </a:xfrm>
          <a:prstGeom prst="rect">
            <a:avLst/>
          </a:prstGeom>
          <a:solidFill>
            <a:srgbClr val="F9F4F0"/>
          </a:solidFill>
          <a:ln/>
        </p:spPr>
      </p:sp>
      <p:sp>
        <p:nvSpPr>
          <p:cNvPr id="9" name="Text 7"/>
          <p:cNvSpPr/>
          <p:nvPr/>
        </p:nvSpPr>
        <p:spPr>
          <a:xfrm>
            <a:off x="4068958" y="2087066"/>
            <a:ext cx="371852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68958" y="2324199"/>
            <a:ext cx="348993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Annual Income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68958" y="2702024"/>
            <a:ext cx="371852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Yearly income.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44574" y="1828800"/>
            <a:ext cx="3947121" cy="1371600"/>
          </a:xfrm>
          <a:prstGeom prst="rect">
            <a:avLst/>
          </a:prstGeom>
          <a:solidFill>
            <a:srgbClr val="EAE6E3"/>
          </a:solidFill>
          <a:ln/>
        </p:spPr>
      </p:sp>
      <p:sp>
        <p:nvSpPr>
          <p:cNvPr id="13" name="Text 11"/>
          <p:cNvSpPr/>
          <p:nvPr/>
        </p:nvSpPr>
        <p:spPr>
          <a:xfrm>
            <a:off x="8473168" y="2087066"/>
            <a:ext cx="371852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73168" y="2324199"/>
            <a:ext cx="348993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Spending Score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73168" y="2702024"/>
            <a:ext cx="371852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score representing spending behavior.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585" y="42672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Data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Inspect Data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 Missing Values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Features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Scale Data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Apply K-Means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253994" y="5932190"/>
            <a:ext cx="1168370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 used for K-Means: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Annual Income + Spending Score. Scaling prevents a feature with a larger numerical range from dominating distance calculations.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51111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EXPLORATION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66044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Without labels, the data must reveal its own structure.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3221434"/>
            <a:ext cx="5867253" cy="3636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228594" y="3553619"/>
            <a:ext cx="5638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LEARNING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594" y="3790752"/>
            <a:ext cx="541006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Known Labels → Prediction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594" y="4213027"/>
            <a:ext cx="1785298" cy="19050"/>
          </a:xfrm>
          <a:prstGeom prst="roundRect">
            <a:avLst>
              <a:gd name="adj" fmla="val 49999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28594" y="4400352"/>
            <a:ext cx="563865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from predefined customer labels.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594" y="4868962"/>
            <a:ext cx="5638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UNSUPERVISED LEARNING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594" y="5106095"/>
            <a:ext cx="541006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Labels → Pattern Discovery → Clusters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28594" y="5441950"/>
            <a:ext cx="5410065" cy="1083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algorithm discovers natural patterns and groups customers by similarity.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EDA: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 shape, descriptive statistics, feature distributions, and Annual Income vs Spending Score.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34027" y="3831034"/>
            <a:ext cx="525766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EXPLORATORY VISUAL</a:t>
            </a:r>
            <a:endParaRPr lang="en-US" sz="10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027" y="4134842"/>
            <a:ext cx="4648084" cy="18097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34027" y="6068417"/>
            <a:ext cx="525766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until the dataset is loaded.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39379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0877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THE ALGORITHM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776512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K-Means turns similarity into a repeatable distance calculation.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035598"/>
            <a:ext cx="4444889" cy="1358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to understand, fast for numerical data, and interpretable.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 each customer as a point in feature space.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nearby points to the same cluster.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59266" y="2806998"/>
            <a:ext cx="6222844" cy="21476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5511662" y="2959398"/>
            <a:ext cx="607044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 AND OBJECTIVE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662" y="3218755"/>
            <a:ext cx="5918052" cy="3030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11662" y="3601145"/>
            <a:ext cx="607044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Euclidean distance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662" y="3920530"/>
            <a:ext cx="5918052" cy="3030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11662" y="4302919"/>
            <a:ext cx="607044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Objective: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Minimize WCSS.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11662" y="4622304"/>
            <a:ext cx="607044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xᵢ = customer point · μₖ = cluster centroid · WCSS = within-cluster sum of squares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09585" y="5078512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Points → Distance Calculation → Nearest Centroid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3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kern="100" spc="52" dirty="0">
                <a:solidFill>
                  <a:srgbClr val="087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ITERATION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782241"/>
            <a:ext cx="10972526" cy="366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elbow helps choose a useful value of 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240532"/>
            <a:ext cx="4978275" cy="1191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020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K.</a:t>
            </a:r>
            <a:endParaRPr lang="en-US" sz="1150" dirty="0"/>
          </a:p>
          <a:p>
            <a:pPr marL="233680" indent="-233680" algn="l">
              <a:lnSpc>
                <a:spcPct val="102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initial centroids.</a:t>
            </a:r>
            <a:endParaRPr lang="en-US" sz="1150" dirty="0"/>
          </a:p>
          <a:p>
            <a:pPr marL="233680" indent="-233680" algn="l">
              <a:lnSpc>
                <a:spcPct val="102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distances.</a:t>
            </a:r>
            <a:endParaRPr lang="en-US" sz="1150" dirty="0"/>
          </a:p>
          <a:p>
            <a:pPr marL="233680" indent="-233680" algn="l">
              <a:lnSpc>
                <a:spcPct val="102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each point to its nearest centroid.</a:t>
            </a:r>
            <a:endParaRPr lang="en-US" sz="1150" dirty="0"/>
          </a:p>
          <a:p>
            <a:pPr marL="233680" indent="-233680" algn="l">
              <a:lnSpc>
                <a:spcPct val="102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Recalculate centroids.</a:t>
            </a:r>
            <a:endParaRPr lang="en-US" sz="1150" dirty="0"/>
          </a:p>
          <a:p>
            <a:pPr marL="233680" indent="-233680" algn="l">
              <a:lnSpc>
                <a:spcPct val="102000"/>
              </a:lnSpc>
              <a:buSzPct val="100000"/>
              <a:buFont typeface="+mj-lt"/>
              <a:buAutoNum type="arabicPeriod" startAt="6"/>
            </a:pPr>
            <a:r>
              <a:rPr lang="en-US" sz="11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until clusters stabilize.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892553" y="1240532"/>
            <a:ext cx="5689557" cy="13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kern="100" spc="52" dirty="0">
                <a:solidFill>
                  <a:srgbClr val="087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ELBOW CURVE · K VS WCSS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2553" y="1428055"/>
          <a:ext cx="5689557" cy="2106362"/>
        </p:xfrm>
        <a:graphic>
          <a:graphicData uri="http://schemas.openxmlformats.org/drawingml/2006/table">
            <a:tbl>
              <a:tblPr/>
              <a:tblGrid>
                <a:gridCol w="265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5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5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WCSS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92553" y="3587750"/>
            <a:ext cx="5689557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WCSS drops quickly before improvement begins to slow. Selected K: [Selected K]. Values are illustrative only until calculated from the dataset.</a:t>
            </a:r>
            <a:endParaRPr lang="en-US" sz="8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Points → Distance Calculation → Nearest Centroid</a:t>
            </a:r>
            <a:endParaRPr lang="en-US" sz="850" dirty="0"/>
          </a:p>
        </p:txBody>
      </p:sp>
      <p:sp>
        <p:nvSpPr>
          <p:cNvPr id="6" name="Shape 5"/>
          <p:cNvSpPr/>
          <p:nvPr/>
        </p:nvSpPr>
        <p:spPr>
          <a:xfrm>
            <a:off x="5892553" y="4097040"/>
            <a:ext cx="5689557" cy="2763838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9" name="Text 6"/>
          <p:cNvSpPr/>
          <p:nvPr/>
        </p:nvSpPr>
        <p:spPr>
          <a:xfrm>
            <a:off x="6121148" y="4325640"/>
            <a:ext cx="5460963" cy="13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kern="100" spc="5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CUSTOMER POINTS · INCOME VERSUS SCORE</a:t>
            </a:r>
            <a:endParaRPr lang="en-US" sz="8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1148" y="4513163"/>
          <a:ext cx="5232369" cy="2106362"/>
        </p:xfrm>
        <a:graphic>
          <a:graphicData uri="http://schemas.openxmlformats.org/drawingml/2006/table">
            <a:tbl>
              <a:tblPr/>
              <a:tblGrid>
                <a:gridCol w="94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0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0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Point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Annual Income (k$)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Spending Score (1-100)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[Income]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[Score]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[Income]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[Score]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[Income]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[Score]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[Income]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[Score]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[Income]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[Score]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[Income]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[Score]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347" marR="109347" marT="58319" marB="58319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63166"/>
            <a:ext cx="11582110" cy="11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REPRODUCIBILITY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09585" y="1593652"/>
            <a:ext cx="10972526" cy="3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short pipeline is enough to reproduce the segmentation.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3581400"/>
            <a:ext cx="5745416" cy="3276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26997" y="3708400"/>
            <a:ext cx="5618419" cy="11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IMPLEMENTATION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26997" y="3961805"/>
            <a:ext cx="5491422" cy="2899668"/>
          </a:xfrm>
          <a:prstGeom prst="roundRect">
            <a:avLst>
              <a:gd name="adj" fmla="val 1842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279591" y="4088904"/>
            <a:ext cx="5186233" cy="264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pd.read_csv("Mall_Customers.csv")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df[["Annual Income (k$)",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"Spending Score (1-100)"]]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StandardScaler().fit_transform(X)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KMeans(n_clusters=5,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random_state=42,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n_init=10)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df["Cluster"] = kmeans.fit_predict(X_scaled)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59694" y="4239617"/>
            <a:ext cx="5532001" cy="11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SCATTER PLOT</a:t>
            </a:r>
            <a:endParaRPr lang="en-US" sz="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694" y="4413250"/>
            <a:ext cx="4922417" cy="2095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59694" y="6572052"/>
            <a:ext cx="5532001" cy="11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cluster colors and centroid markers until actual cluster centers are calculated.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12552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labels become useful when they become customer profiles.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43038"/>
          <a:ext cx="6400639" cy="2324242"/>
        </p:xfrm>
        <a:graphic>
          <a:graphicData uri="http://schemas.openxmlformats.org/drawingml/2006/table">
            <a:tbl>
              <a:tblPr/>
              <a:tblGrid>
                <a:gridCol w="1152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Cluster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Profile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Pattern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Value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income, high spending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Careful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income, low spending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Budget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income, low spending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Potential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Low/medium income, high spending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Average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047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 income and spending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4646712"/>
            <a:ext cx="640064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descriptions must follow the actual calculated cluster centers.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9585" y="4906070"/>
            <a:ext cx="640064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Evaluation:</a:t>
            </a: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WCSS = [Insert calculated value] · Silhouette Score = [Insert calculated value]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585" y="5465465"/>
            <a:ext cx="640064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B4B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WCSS generally means tighter clusters; higher silhouette indicates better separation.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14918" y="2243038"/>
            <a:ext cx="4267192" cy="784820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8" name="Text 5"/>
          <p:cNvSpPr/>
          <p:nvPr/>
        </p:nvSpPr>
        <p:spPr>
          <a:xfrm>
            <a:off x="7467314" y="2395438"/>
            <a:ext cx="396240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Loyalty programs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high-value customers.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4918" y="3180259"/>
            <a:ext cx="4267192" cy="784820"/>
          </a:xfrm>
          <a:prstGeom prst="rect">
            <a:avLst/>
          </a:prstGeom>
          <a:solidFill>
            <a:srgbClr val="F9F4F0"/>
          </a:solidFill>
          <a:ln/>
        </p:spPr>
      </p:sp>
      <p:sp>
        <p:nvSpPr>
          <p:cNvPr id="3" name="Text 7"/>
          <p:cNvSpPr/>
          <p:nvPr/>
        </p:nvSpPr>
        <p:spPr>
          <a:xfrm>
            <a:off x="7467314" y="3332659"/>
            <a:ext cx="396240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Personalized promotions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potential customers.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4918" y="4117479"/>
            <a:ext cx="4267192" cy="784820"/>
          </a:xfrm>
          <a:prstGeom prst="rect">
            <a:avLst/>
          </a:prstGeom>
          <a:solidFill>
            <a:srgbClr val="EAE6E3"/>
          </a:solidFill>
          <a:ln/>
        </p:spPr>
      </p:sp>
      <p:sp>
        <p:nvSpPr>
          <p:cNvPr id="12" name="Text 9"/>
          <p:cNvSpPr/>
          <p:nvPr/>
        </p:nvSpPr>
        <p:spPr>
          <a:xfrm>
            <a:off x="7467314" y="4269879"/>
            <a:ext cx="396240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campaigns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low-spending groups.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69206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3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06339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5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method is useful, but the assumptions stay visible.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089845"/>
            <a:ext cx="5333867" cy="222646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318445"/>
            <a:ext cx="51052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179" y="2577802"/>
            <a:ext cx="4876678" cy="126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depend on selected features; K must be chosen.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Initialization and outliers matter; behavior changes over time.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may not represent every customer.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089845"/>
            <a:ext cx="5333867" cy="222646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318445"/>
            <a:ext cx="51052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76838" y="2577802"/>
            <a:ext cx="4876678" cy="1509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more features; compare DBSCAN or hierarchical clustering.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larger real-world data; build an interactive dashboard.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047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segments to recommendations or campaigns.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4440138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047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→ Preprocessing → K-Means → Customer Clusters → Business Insights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4803973"/>
            <a:ext cx="10972526" cy="784820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79" y="4956373"/>
            <a:ext cx="10515337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takeaway: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 segmentation helps businesses understand distinct groups and develop more targeted strategies using data-driven insights.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1006</Words>
  <Application>Microsoft Office PowerPoint</Application>
  <PresentationFormat>Widescreen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Inter Bold</vt:lpstr>
      <vt:lpstr>Inter SemiBold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j3miracles@gmail.com</cp:lastModifiedBy>
  <cp:revision>1</cp:revision>
  <dcterms:created xsi:type="dcterms:W3CDTF">2026-10-03T05:35:39Z</dcterms:created>
  <dcterms:modified xsi:type="dcterms:W3CDTF">2026-10-03T05:40:23Z</dcterms:modified>
</cp:coreProperties>
</file>